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97280"/>
            <a:ext cx="1645920" cy="16459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Multi-Agent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Work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with real-world examples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Architectures   |   Real Examples   |   When to Use Each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4873752" cy="457200"/>
          </a:xfrm>
          <a:prstGeom prst="roundRect">
            <a:avLst>
              <a:gd name="adj" fmla="val 1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Multi-Agent System?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AI doing everything, multiple specialized agents collaborate — each with its own role, tools, and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A2F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737360"/>
            <a:ext cx="731520" cy="731520"/>
          </a:xfrm>
          <a:prstGeom prst="ellipse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97180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with tools, memory, and a specific role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A2F4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737360"/>
            <a:ext cx="731520" cy="73152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64408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297180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search, databases, code runners,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6002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1A2F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14616" y="1737360"/>
            <a:ext cx="731520" cy="73152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4616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8776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8504" y="297180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results, delegate tasks, and report back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8404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company — not one person doing everything, but specialists working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4718304" cy="457200"/>
          </a:xfrm>
          <a:prstGeom prst="roundRect">
            <a:avLst>
              <a:gd name="adj" fmla="val 1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1: Single Agent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with a set of tools. It thinks, picks a tool, uses it, thinks again, and repeats until the task is done.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with Plugins: You ask to check Paris weather and book a restaurant. One agent calls the weather API, then OpenTable, then combines both results for you.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Chatbots, Q&amp;A, focused single-domain tasks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445566">
              <a:alpha val="80000"/>
            </a:srgbClr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25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234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1691640"/>
            <a:ext cx="384048" cy="320040"/>
          </a:xfrm>
          <a:prstGeom prst="roundRect">
            <a:avLst>
              <a:gd name="adj" fmla="val 200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6916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91656" y="1691640"/>
            <a:ext cx="384048" cy="320040"/>
          </a:xfrm>
          <a:prstGeom prst="roundRect">
            <a:avLst>
              <a:gd name="adj" fmla="val 20000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16916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21424" y="1691640"/>
            <a:ext cx="384048" cy="320040"/>
          </a:xfrm>
          <a:prstGeom prst="roundRect">
            <a:avLst>
              <a:gd name="adj" fmla="val 20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6916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71232" y="1325880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1325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155448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7360920" y="1554480"/>
            <a:ext cx="2286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4828032" y="2788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8928" y="2807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request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10896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38928" y="3127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the right tool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28032" y="342900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37490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8928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forms final answer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272784" cy="457200"/>
          </a:xfrm>
          <a:prstGeom prst="roundRect">
            <a:avLst>
              <a:gd name="adj" fmla="val 1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2: Network (Peer-to-Peer)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communicate freely with each other. No single boss. Any agent can call any other — like a team meeting where everyone talks.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Group Chat: You ask to plan a product launch. Research Agent finds market data, Marketing Agent writes campaigns using that data, Legal Agent reviews compliance, Finance Agent estimates budget — all sharing freely.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Open-ended collaboration needing multiple expertise domains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1536192"/>
            <a:ext cx="-1188720" cy="82296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536192"/>
            <a:ext cx="1188720" cy="82296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536192"/>
            <a:ext cx="0" cy="164592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2359152"/>
            <a:ext cx="2377440" cy="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359152"/>
            <a:ext cx="1188720" cy="82296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2359152"/>
            <a:ext cx="-1188720" cy="822960"/>
          </a:xfrm>
          <a:prstGeom prst="line">
            <a:avLst/>
          </a:prstGeom>
          <a:noFill/>
          <a:ln w="10160">
            <a:solidFill>
              <a:srgbClr val="3344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28016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10312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92608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4407408" cy="457200"/>
          </a:xfrm>
          <a:prstGeom prst="roundRect">
            <a:avLst>
              <a:gd name="adj" fmla="val 10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3: Supervisor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boss agent receives the task, breaks it down, and delegates to specialized worker agents. Workers report back and the supervisor decides next steps.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Research System: You ask for a report on EV batteries. Supervisor assigns tasks: Research Agent scrapes papers, Writer Agent drafts sections, Reviewer Agent checks facts. Supervisor decides when it is good enough.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Report writing, content pipelines with clear defined roles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2286000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25312" y="2286000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77456" y="2286000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1737360"/>
            <a:ext cx="-1261872" cy="54864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6537960" y="1737360"/>
            <a:ext cx="-109728" cy="54864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6537960" y="1737360"/>
            <a:ext cx="1042416" cy="54864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5276088" y="2743200"/>
            <a:ext cx="1170432" cy="-1005840"/>
          </a:xfrm>
          <a:prstGeom prst="line">
            <a:avLst/>
          </a:prstGeom>
          <a:noFill/>
          <a:ln w="8890">
            <a:solidFill>
              <a:srgbClr val="8B5CF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92240" y="2743200"/>
            <a:ext cx="91440" cy="-1005840"/>
          </a:xfrm>
          <a:prstGeom prst="line">
            <a:avLst/>
          </a:prstGeom>
          <a:noFill/>
          <a:ln w="8890">
            <a:solidFill>
              <a:srgbClr val="8B5CF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7091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back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4: Supervisor as Tools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as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LLM calls sub-agents exactly like it calls tools — via function calls. Each sub-agent is wrapped as a callable function. Clean and very modular.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with MCP: You ask to find AI papers and send a Slack summary. Claude calls search_agent, then summarize_agent on the results, then slack_agent to post it. Each agent is just a function to Claude.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Modular agent composition, tool-calling frameworks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LLM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2240280"/>
            <a:ext cx="1078992" cy="457200"/>
          </a:xfrm>
          <a:prstGeom prst="roundRect">
            <a:avLst>
              <a:gd name="adj" fmla="val 14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search_agent()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25312" y="2240280"/>
            <a:ext cx="1078992" cy="457200"/>
          </a:xfrm>
          <a:prstGeom prst="roundRect">
            <a:avLst>
              <a:gd name="adj" fmla="val 140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code_agent()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77456" y="2240280"/>
            <a:ext cx="1078992" cy="457200"/>
          </a:xfrm>
          <a:prstGeom prst="roundRect">
            <a:avLst>
              <a:gd name="adj" fmla="val 1400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email_agent()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1737360"/>
            <a:ext cx="-1225296" cy="502920"/>
          </a:xfrm>
          <a:prstGeom prst="line">
            <a:avLst/>
          </a:prstGeom>
          <a:noFill/>
          <a:ln w="11430">
            <a:solidFill>
              <a:srgbClr val="F59E0B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6537960" y="1737360"/>
            <a:ext cx="-73152" cy="502920"/>
          </a:xfrm>
          <a:prstGeom prst="line">
            <a:avLst/>
          </a:prstGeom>
          <a:noFill/>
          <a:ln w="11430">
            <a:solidFill>
              <a:srgbClr val="F59E0B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6537960" y="1737360"/>
            <a:ext cx="1078992" cy="502920"/>
          </a:xfrm>
          <a:prstGeom prst="line">
            <a:avLst/>
          </a:prstGeom>
          <a:noFill/>
          <a:ln w="11430">
            <a:solidFill>
              <a:srgbClr val="F59E0B"/>
            </a:solidFill>
            <a:prstDash val="solid"/>
            <a:tailEnd type="open"/>
          </a:ln>
        </p:spPr>
      </p:sp>
      <p:sp>
        <p:nvSpPr>
          <p:cNvPr id="24" name="Text 22"/>
          <p:cNvSpPr/>
          <p:nvPr/>
        </p:nvSpPr>
        <p:spPr>
          <a:xfrm>
            <a:off x="4709160" y="2834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like function calls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15468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0A1520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00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search_agent(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'AI 2024'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456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code_agent(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7124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email_agent(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4718304" cy="457200"/>
          </a:xfrm>
          <a:prstGeom prst="roundRect">
            <a:avLst>
              <a:gd name="adj" fmla="val 1000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5: Hierarchical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supervisors. A top-level supervisor delegates to mid-level supervisors, who each manage their own team of workers. Great for massive complex tasks.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 System: CEO Agent splits work to Research Manager and Writing Manager. Research Manager runs Scraper and Analyst agents in parallel. Writing Manager runs Drafter and Editor. Both teams work simultaneously.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 workflows, legal, finance, engineering pipelines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1887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96596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Mgr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Mgr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283464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68112" y="283464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2834640"/>
            <a:ext cx="731520" cy="365760"/>
          </a:xfrm>
          <a:prstGeom prst="roundRect">
            <a:avLst>
              <a:gd name="adj" fmla="val 175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1627632"/>
            <a:ext cx="-1051560" cy="338328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6537960" y="1627632"/>
            <a:ext cx="502920" cy="338328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tailEnd type="open"/>
          </a:ln>
        </p:spPr>
      </p:sp>
      <p:sp>
        <p:nvSpPr>
          <p:cNvPr id="29" name="Shape 27"/>
          <p:cNvSpPr/>
          <p:nvPr/>
        </p:nvSpPr>
        <p:spPr>
          <a:xfrm>
            <a:off x="5486400" y="2377440"/>
            <a:ext cx="-438912" cy="45720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5486400" y="2377440"/>
            <a:ext cx="347472" cy="45720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7040880" y="2377440"/>
            <a:ext cx="-411480" cy="45720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7040880" y="2377440"/>
            <a:ext cx="365760" cy="45720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4681728" y="3246120"/>
            <a:ext cx="1536192" cy="201168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2461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1508760" cy="20116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2461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5184648" cy="457200"/>
          </a:xfrm>
          <a:prstGeom prst="roundRect">
            <a:avLst>
              <a:gd name="adj" fmla="val 10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6: Custom Topology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Topology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exactly which agents exist and how they connect. Not a star, not a tree — whatever your use case demands. Parallel paths, sequential steps, conditional routing.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Pipeline: Ingestion receives an order, forks to Fraud Check and Inventory agents in parallel, results merge into Validate, then Transform, then Output sends to warehouse and notifies the customer.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Production systems needing maximum speed and reliability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1A2F4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1261872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61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05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481328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481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234440"/>
            <a:ext cx="868680" cy="384048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2344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9480" y="1920240"/>
            <a:ext cx="868680" cy="384048"/>
          </a:xfrm>
          <a:prstGeom prst="roundRect">
            <a:avLst>
              <a:gd name="adj" fmla="val 16667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9202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606040"/>
            <a:ext cx="868680" cy="384048"/>
          </a:xfrm>
          <a:prstGeom prst="roundRect">
            <a:avLst>
              <a:gd name="adj" fmla="val 1666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606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87568" y="1389888"/>
            <a:ext cx="301752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5687568" y="1481328"/>
            <a:ext cx="301752" cy="18288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6949440" y="1188720"/>
            <a:ext cx="320040" cy="1371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6949440" y="1664208"/>
            <a:ext cx="320040" cy="-201168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29" name="Shape 27"/>
          <p:cNvSpPr/>
          <p:nvPr/>
        </p:nvSpPr>
        <p:spPr>
          <a:xfrm>
            <a:off x="7699248" y="1618488"/>
            <a:ext cx="0" cy="30175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7699248" y="2304288"/>
            <a:ext cx="0" cy="30175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31" name="Text 29"/>
          <p:cNvSpPr/>
          <p:nvPr/>
        </p:nvSpPr>
        <p:spPr>
          <a:xfrm>
            <a:off x="5669280" y="129844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903720" y="12984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2852928" cy="457200"/>
          </a:xfrm>
          <a:prstGeom prst="roundRect">
            <a:avLst>
              <a:gd name="adj" fmla="val 1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6459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822960"/>
            <a:ext cx="9144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822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822960"/>
            <a:ext cx="8229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8229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822960"/>
            <a:ext cx="100584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822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39319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22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207008"/>
            <a:ext cx="1645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207008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207008"/>
            <a:ext cx="91440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1207008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1207008"/>
            <a:ext cx="82296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120700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1207008"/>
            <a:ext cx="100584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1207008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207008"/>
            <a:ext cx="3931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207008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Q&amp;A, focused tasks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636776"/>
            <a:ext cx="1645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636776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1636776"/>
            <a:ext cx="91440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163677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1636776"/>
            <a:ext cx="82296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9504" y="163677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1636776"/>
            <a:ext cx="100584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1636776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636776"/>
            <a:ext cx="3931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1636776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collaboration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066544"/>
            <a:ext cx="1645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066544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2066544"/>
            <a:ext cx="91440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75104" y="2066544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2066544"/>
            <a:ext cx="82296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504" y="20665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0" y="2066544"/>
            <a:ext cx="100584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2464" y="2066544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066544"/>
            <a:ext cx="3931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066544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content pipelines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496312"/>
            <a:ext cx="1645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496312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Tools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20240" y="2496312"/>
            <a:ext cx="91440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75104" y="2496312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2496312"/>
            <a:ext cx="82296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89504" y="2496312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0" y="2496312"/>
            <a:ext cx="100584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12464" y="2496312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2496312"/>
            <a:ext cx="3931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2496312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tool composition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2926080"/>
            <a:ext cx="1645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2926080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20240" y="2926080"/>
            <a:ext cx="91440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75104" y="2926080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834640" y="2926080"/>
            <a:ext cx="82296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89504" y="2926080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0" y="2926080"/>
            <a:ext cx="100584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12464" y="2926080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63440" y="2926080"/>
            <a:ext cx="3931920" cy="429768"/>
          </a:xfrm>
          <a:prstGeom prst="rect">
            <a:avLst/>
          </a:prstGeom>
          <a:solidFill>
            <a:srgbClr val="1A2F45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2926080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workflows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355848"/>
            <a:ext cx="1645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355848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20240" y="3355848"/>
            <a:ext cx="91440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75104" y="3355848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834640" y="3355848"/>
            <a:ext cx="82296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89504" y="335584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0" y="3355848"/>
            <a:ext cx="100584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12464" y="3355848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63440" y="3355848"/>
            <a:ext cx="3931920" cy="429768"/>
          </a:xfrm>
          <a:prstGeom prst="rect">
            <a:avLst/>
          </a:prstGeom>
          <a:solidFill>
            <a:srgbClr val="112233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18304" y="3355848"/>
            <a:ext cx="3840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6117336" cy="457200"/>
          </a:xfrm>
          <a:prstGeom prst="roundRect">
            <a:avLst>
              <a:gd name="adj" fmla="val 1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the Right Architecture?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2F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96696"/>
            <a:ext cx="45720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418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task simple and focused?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225296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6035040" y="996696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996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2F4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984248"/>
            <a:ext cx="457200" cy="45720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9293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multiple expertise domains?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2212848"/>
            <a:ext cx="4572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6035040" y="198424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 Supervisor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843784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2F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71800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29169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for parallel teams?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3200400"/>
            <a:ext cx="4572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6035040" y="297180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831336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A2F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959352"/>
            <a:ext cx="457200" cy="4572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904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well-known workflow?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7840" y="4187952"/>
            <a:ext cx="4572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6035040" y="395935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959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Topology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Frameworks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A2F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9144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Hierarchical, Custom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A2F4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91440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Supervisor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A2F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9144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Supervisor,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A2F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77440"/>
            <a:ext cx="914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Agent,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A2F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377440"/>
            <a:ext cx="9144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Hierarchical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Add agents only when complexity demands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Multi-Agent Systems Work</dc:title>
  <dc:subject>PptxGenJS Presentation</dc:subject>
  <dc:creator>PptxGenJS</dc:creator>
  <cp:lastModifiedBy>PptxGenJS</cp:lastModifiedBy>
  <cp:revision>1</cp:revision>
  <dcterms:created xsi:type="dcterms:W3CDTF">2026-05-04T06:17:42Z</dcterms:created>
  <dcterms:modified xsi:type="dcterms:W3CDTF">2026-05-04T06:17:42Z</dcterms:modified>
</cp:coreProperties>
</file>